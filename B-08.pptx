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4E919-4AD3-45DD-B5BA-12E5B4BC00B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6F570-240A-4D5C-9566-B0BDD4318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3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6F570-240A-4D5C-9566-B0BDD431843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55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6F570-240A-4D5C-9566-B0BDD431843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69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INSTITITE OF TECHNOLOGY</a:t>
            </a: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600" b="0" i="0" dirty="0" smtClean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B - 08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00751" y="6629558"/>
            <a:ext cx="5498464" cy="213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152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400" b="0" i="0" dirty="0" smtClean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lang="en-IN" dirty="0"/>
              <a:t>01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shmadudekula04/CSE-2022-26-Batch-B-0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29400"/>
            <a:ext cx="11414635" cy="220979"/>
            <a:chOff x="777240" y="6634440"/>
            <a:chExt cx="11414635" cy="220979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582401" y="6636960"/>
              <a:ext cx="609474" cy="21845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-17813" y="6628764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3131" y="1737407"/>
            <a:ext cx="2819401" cy="5982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N.PAVITHRA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224G1A0569</a:t>
            </a: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2476799"/>
            <a:ext cx="4724400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4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14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C. Sudheer Kumar,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M.Tech., (Ph. D) </a:t>
            </a: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en-IN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endParaRPr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Rotarypuram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Village,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Samudram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Mandal,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Ananthapuramu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515701.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IN" sz="1300" b="1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IN" sz="1300" b="1" spc="-20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411" y="1715408"/>
            <a:ext cx="2624412" cy="59952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spcBef>
                <a:spcPts val="11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D.RESHMA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IN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</a:t>
            </a:r>
            <a:r>
              <a:rPr lang="en-IN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224G1A0583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25953" y="1713738"/>
            <a:ext cx="3581401" cy="5982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>
              <a:spcBef>
                <a:spcPts val="409"/>
              </a:spcBef>
            </a:pP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K.ROHITH NAIK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224G1A0585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62200" y="491407"/>
            <a:ext cx="70104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b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9143" y="3408075"/>
            <a:ext cx="1527378" cy="16854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AF65CE-04E6-14E0-2800-2CC910281BDB}"/>
              </a:ext>
            </a:extLst>
          </p:cNvPr>
          <p:cNvSpPr txBox="1"/>
          <p:nvPr/>
        </p:nvSpPr>
        <p:spPr>
          <a:xfrm>
            <a:off x="796281" y="506676"/>
            <a:ext cx="10022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Smart Surveillance System for Weapon Detection and Warning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C48388-F573-44B4-4AFF-5C6129898DF7}"/>
              </a:ext>
            </a:extLst>
          </p:cNvPr>
          <p:cNvSpPr txBox="1"/>
          <p:nvPr/>
        </p:nvSpPr>
        <p:spPr>
          <a:xfrm>
            <a:off x="0" y="6585683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- 08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287" y="267542"/>
            <a:ext cx="47390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1816" y="6637811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- 08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5601"/>
            <a:ext cx="4953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9359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118AA9-A0C5-252E-6283-492DBB3B5F3B}"/>
              </a:ext>
            </a:extLst>
          </p:cNvPr>
          <p:cNvSpPr txBox="1"/>
          <p:nvPr/>
        </p:nvSpPr>
        <p:spPr>
          <a:xfrm>
            <a:off x="6324600" y="6603255"/>
            <a:ext cx="502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C51F5-9812-552E-5DDD-35920584723C}"/>
              </a:ext>
            </a:extLst>
          </p:cNvPr>
          <p:cNvSpPr txBox="1"/>
          <p:nvPr/>
        </p:nvSpPr>
        <p:spPr>
          <a:xfrm>
            <a:off x="2819400" y="-71534"/>
            <a:ext cx="1013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0155" y="263577"/>
            <a:ext cx="404177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Title</a:t>
            </a:r>
            <a:r>
              <a:rPr sz="4000" spc="-110" dirty="0"/>
              <a:t> </a:t>
            </a:r>
            <a:r>
              <a:rPr lang="en-IN" sz="4000" spc="-10" dirty="0"/>
              <a:t>Justification</a:t>
            </a:r>
            <a:br>
              <a:rPr lang="en-IN" sz="4000" spc="-10" dirty="0">
                <a:solidFill>
                  <a:srgbClr val="000000"/>
                </a:solidFill>
              </a:rPr>
            </a:br>
            <a:endParaRPr sz="4000" spc="-10" dirty="0">
              <a:solidFill>
                <a:srgbClr val="000000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5601"/>
            <a:ext cx="51054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553200" y="6187569"/>
            <a:ext cx="4572000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E17030-CAA6-980B-4BBC-2F2E5974DB85}"/>
              </a:ext>
            </a:extLst>
          </p:cNvPr>
          <p:cNvSpPr txBox="1"/>
          <p:nvPr/>
        </p:nvSpPr>
        <p:spPr>
          <a:xfrm>
            <a:off x="195316" y="1015559"/>
            <a:ext cx="118728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Surveillance System for Weapon Detection and Warning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“Smart” - Uses AI &amp; deep learning techniques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“Surveillance System” - Continuous monitoring using live camera feed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“Weapon Detection” - Identifies harmful objects (knife, gun, etc.)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“Warning” - Sends instant alerts and emails to responsible authorities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44594-7FC3-23BE-3066-5918BEA04620}"/>
              </a:ext>
            </a:extLst>
          </p:cNvPr>
          <p:cNvSpPr txBox="1"/>
          <p:nvPr/>
        </p:nvSpPr>
        <p:spPr>
          <a:xfrm>
            <a:off x="2819400" y="-68144"/>
            <a:ext cx="876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605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1395"/>
            <a:ext cx="51816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E39EDE-1070-D67C-5CDF-AB2F0D684DA2}"/>
              </a:ext>
            </a:extLst>
          </p:cNvPr>
          <p:cNvSpPr txBox="1"/>
          <p:nvPr/>
        </p:nvSpPr>
        <p:spPr>
          <a:xfrm>
            <a:off x="149031" y="168600"/>
            <a:ext cx="3279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B8F9D-7E85-6B60-FC29-532DD4F415C5}"/>
              </a:ext>
            </a:extLst>
          </p:cNvPr>
          <p:cNvSpPr txBox="1"/>
          <p:nvPr/>
        </p:nvSpPr>
        <p:spPr>
          <a:xfrm>
            <a:off x="228600" y="1057685"/>
            <a:ext cx="1179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9943F-4396-BF77-FBB4-9F575239731B}"/>
              </a:ext>
            </a:extLst>
          </p:cNvPr>
          <p:cNvSpPr txBox="1"/>
          <p:nvPr/>
        </p:nvSpPr>
        <p:spPr>
          <a:xfrm>
            <a:off x="228600" y="1208095"/>
            <a:ext cx="1165860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of weapons using deep learning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CCTV video frames continuously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harmful objects like guns &amp; knives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an alert sound or message when a weapon is found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criminal activities in public areas</a:t>
            </a:r>
          </a:p>
          <a:p>
            <a: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human monitoring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70540-8C1C-9C06-DAAB-E65CCCBCB8E0}"/>
              </a:ext>
            </a:extLst>
          </p:cNvPr>
          <p:cNvSpPr txBox="1"/>
          <p:nvPr/>
        </p:nvSpPr>
        <p:spPr>
          <a:xfrm>
            <a:off x="2819400" y="-68263"/>
            <a:ext cx="696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A75D9-4001-5B33-A86C-316AA822678B}"/>
              </a:ext>
            </a:extLst>
          </p:cNvPr>
          <p:cNvSpPr txBox="1"/>
          <p:nvPr/>
        </p:nvSpPr>
        <p:spPr>
          <a:xfrm>
            <a:off x="6324600" y="6595037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1940" y="-32226"/>
            <a:ext cx="630812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87325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0200" y="234724"/>
            <a:ext cx="47390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Problem</a:t>
            </a:r>
            <a:r>
              <a:rPr sz="4000" spc="-185" dirty="0"/>
              <a:t> </a:t>
            </a:r>
            <a:r>
              <a:rPr sz="4000"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</a:t>
            </a:r>
            <a:r>
              <a:rPr lang="en-IN" spc="-25" dirty="0"/>
              <a:t> </a:t>
            </a:r>
            <a:r>
              <a:rPr lang="en-IN" sz="1400" spc="-25" dirty="0"/>
              <a:t>08</a:t>
            </a:r>
            <a:endParaRPr sz="1400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54475"/>
            <a:ext cx="5486401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1" y="6629400"/>
            <a:ext cx="5181599" cy="44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pPr marL="12700">
              <a:lnSpc>
                <a:spcPts val="1845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30200" y="1216839"/>
            <a:ext cx="11252200" cy="449816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Security threats increase significantly when weapons go unnoticed due to the limitations of manual monitoring. Human operators may overlook critical moments, causing delayed responses during high-risk situations. The lack of automated real-time weapon detection systems makes existing surveillance ineffective in preventing violent incidents. Therefore, there is a need for an intelligent, fast, and accurate system that can automatically detect weapons and trigger immediate alerts to support proactive security measures.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800" y="232920"/>
            <a:ext cx="47390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sz="4000" dirty="0"/>
              <a:t>Objectives</a:t>
            </a:r>
            <a:r>
              <a:rPr sz="4000" spc="-60" dirty="0"/>
              <a:t> </a:t>
            </a:r>
            <a:r>
              <a:rPr sz="4000" spc="-25" dirty="0"/>
              <a:t>of</a:t>
            </a:r>
            <a:r>
              <a:rPr lang="en-US" sz="4000" spc="-25" dirty="0"/>
              <a:t> </a:t>
            </a:r>
            <a:r>
              <a:rPr sz="4000"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1280"/>
            <a:ext cx="51054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0" y="6629197"/>
            <a:ext cx="6172199" cy="44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pPr marL="12700">
              <a:lnSpc>
                <a:spcPts val="1845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2B8090-C293-7B70-A3EC-7D54562CC3F0}"/>
              </a:ext>
            </a:extLst>
          </p:cNvPr>
          <p:cNvSpPr txBox="1"/>
          <p:nvPr/>
        </p:nvSpPr>
        <p:spPr>
          <a:xfrm>
            <a:off x="243180" y="1229482"/>
            <a:ext cx="1194882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of weapons from camera input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YOLO-v9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high-speed accurate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automated alerts through buzzer + email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live monitoring interface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safety and reduce manual surveillance load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9986E-9A04-AA68-A20A-E492C78375E4}"/>
              </a:ext>
            </a:extLst>
          </p:cNvPr>
          <p:cNvSpPr txBox="1"/>
          <p:nvPr/>
        </p:nvSpPr>
        <p:spPr>
          <a:xfrm>
            <a:off x="2819400" y="-76306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187325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6549" y="225317"/>
            <a:ext cx="4498975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914400" y="6629400"/>
            <a:ext cx="4953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9" name="object 9"/>
          <p:cNvSpPr txBox="1"/>
          <p:nvPr/>
        </p:nvSpPr>
        <p:spPr>
          <a:xfrm>
            <a:off x="6400800" y="6629198"/>
            <a:ext cx="5365751" cy="44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pPr marL="12700">
              <a:lnSpc>
                <a:spcPts val="1845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CDE1DB-9D23-B38B-E0C3-FE38D2DB4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597391"/>
              </p:ext>
            </p:extLst>
          </p:nvPr>
        </p:nvGraphicFramePr>
        <p:xfrm>
          <a:off x="349249" y="1143000"/>
          <a:ext cx="11493501" cy="413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167">
                  <a:extLst>
                    <a:ext uri="{9D8B030D-6E8A-4147-A177-3AD203B41FA5}">
                      <a16:colId xmlns:a16="http://schemas.microsoft.com/office/drawing/2014/main" val="409676124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2225106982"/>
                    </a:ext>
                  </a:extLst>
                </a:gridCol>
                <a:gridCol w="3831167">
                  <a:extLst>
                    <a:ext uri="{9D8B030D-6E8A-4147-A177-3AD203B41FA5}">
                      <a16:colId xmlns:a16="http://schemas.microsoft.com/office/drawing/2014/main" val="3093792740"/>
                    </a:ext>
                  </a:extLst>
                </a:gridCol>
              </a:tblGrid>
              <a:tr h="82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744906"/>
                  </a:ext>
                </a:extLst>
              </a:tr>
              <a:tr h="82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 matching, Edge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in real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658910"/>
                  </a:ext>
                </a:extLst>
              </a:tr>
              <a:tr h="82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Faster-R CNN, Mask-R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81320"/>
                  </a:ext>
                </a:extLst>
              </a:tr>
              <a:tr h="82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 on complex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257260"/>
                  </a:ext>
                </a:extLst>
              </a:tr>
              <a:tr h="82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+ accurate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GPU for best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6880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9419F93-D536-202B-E910-B33FB29B7F9A}"/>
              </a:ext>
            </a:extLst>
          </p:cNvPr>
          <p:cNvSpPr txBox="1"/>
          <p:nvPr/>
        </p:nvSpPr>
        <p:spPr>
          <a:xfrm>
            <a:off x="228600" y="5410200"/>
            <a:ext cx="11493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YOLO-v9 selected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superior performance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660EAA-98F8-042A-046B-70918FAAAF9A}"/>
              </a:ext>
            </a:extLst>
          </p:cNvPr>
          <p:cNvSpPr txBox="1"/>
          <p:nvPr/>
        </p:nvSpPr>
        <p:spPr>
          <a:xfrm>
            <a:off x="2819400" y="-89003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800" y="254820"/>
            <a:ext cx="388810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z="4000" spc="-10" dirty="0"/>
              <a:t>Proposed</a:t>
            </a:r>
            <a:r>
              <a:rPr lang="en-US" sz="4000" spc="-10" dirty="0"/>
              <a:t> Work</a:t>
            </a:r>
            <a:endParaRPr sz="4000"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6687"/>
            <a:ext cx="51816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400800" y="6641280"/>
            <a:ext cx="5642169" cy="44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pPr marL="12700">
              <a:lnSpc>
                <a:spcPts val="1845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EDB4FB-CF07-BEB1-9261-E29997206A31}"/>
              </a:ext>
            </a:extLst>
          </p:cNvPr>
          <p:cNvSpPr txBox="1"/>
          <p:nvPr/>
        </p:nvSpPr>
        <p:spPr>
          <a:xfrm>
            <a:off x="304800" y="1036080"/>
            <a:ext cx="118728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captures live video frames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YOLO-v9 model detects weapon types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are triggered automatically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dashboard through Streamlit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Email + buzzer alarm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73245-6FAE-2529-70E6-17D07931DF3B}"/>
              </a:ext>
            </a:extLst>
          </p:cNvPr>
          <p:cNvSpPr txBox="1"/>
          <p:nvPr/>
        </p:nvSpPr>
        <p:spPr>
          <a:xfrm>
            <a:off x="2812207" y="-81177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300" y="216605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031" y="267274"/>
            <a:ext cx="47390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– 08</a:t>
            </a:r>
            <a:endParaRPr sz="1400"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14400" y="6629400"/>
            <a:ext cx="5486400" cy="457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lang="en-IN" sz="1400" dirty="0"/>
          </a:p>
          <a:p>
            <a:pPr marL="12700">
              <a:lnSpc>
                <a:spcPts val="1845"/>
              </a:lnSpc>
            </a:pPr>
            <a:endParaRPr sz="1400"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6400800" y="6629400"/>
            <a:ext cx="6055137" cy="457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</a:p>
          <a:p>
            <a:pPr marL="12700">
              <a:lnSpc>
                <a:spcPts val="1845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46DA03-6134-1768-C8C1-B183EFE8E659}"/>
              </a:ext>
            </a:extLst>
          </p:cNvPr>
          <p:cNvSpPr txBox="1"/>
          <p:nvPr/>
        </p:nvSpPr>
        <p:spPr>
          <a:xfrm>
            <a:off x="170155" y="1054234"/>
            <a:ext cx="114122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Identification using YOLO V5 Algorithm - Divyamsh Reddy Asani et al., IJSR, 2023.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in Surveillance Videos Using Deep Neural Networks - Quyyum &amp; Abdullah, 2022.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Weapon Detection Using YOLOv8 for Enhanced Safety - Thakur, Shrivastav, Sharma, et al., 2024.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Weapon Detection for Security Surveillance - Murugan et al., 2025.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885D58-DF54-5F0E-8BD0-5E2F46700BEF}"/>
              </a:ext>
            </a:extLst>
          </p:cNvPr>
          <p:cNvSpPr txBox="1"/>
          <p:nvPr/>
        </p:nvSpPr>
        <p:spPr>
          <a:xfrm>
            <a:off x="2819400" y="-679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0480" y="-18339"/>
            <a:ext cx="148844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500" b="1" i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8599" y="232920"/>
            <a:ext cx="81362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sz="4000" dirty="0"/>
              <a:t>Git</a:t>
            </a:r>
            <a:r>
              <a:rPr sz="4000" spc="-75" dirty="0"/>
              <a:t> </a:t>
            </a:r>
            <a:r>
              <a:rPr sz="4000" spc="-25" dirty="0"/>
              <a:t>Hub</a:t>
            </a:r>
            <a:r>
              <a:rPr lang="en-US" sz="4000" spc="-25" dirty="0"/>
              <a:t> </a:t>
            </a:r>
            <a:r>
              <a:rPr sz="4000" dirty="0"/>
              <a:t>Dashboards</a:t>
            </a:r>
            <a:r>
              <a:rPr sz="4000" spc="-60" dirty="0"/>
              <a:t> </a:t>
            </a:r>
            <a:r>
              <a:rPr sz="4000" spc="-25" dirty="0"/>
              <a:t>of</a:t>
            </a:r>
            <a:r>
              <a:rPr lang="en-US" sz="4000" spc="-25" dirty="0"/>
              <a:t> </a:t>
            </a:r>
            <a:r>
              <a:rPr sz="4000" spc="-20" dirty="0"/>
              <a:t>each</a:t>
            </a:r>
            <a:r>
              <a:rPr lang="en-US" sz="4000" spc="-20" dirty="0"/>
              <a:t> </a:t>
            </a:r>
            <a:r>
              <a:rPr sz="4000"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4400" y="6653359"/>
            <a:ext cx="5108575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sz="1400" cap="small" spc="-1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28599" y="6152444"/>
            <a:ext cx="11277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https://github.com/reshmadudekula04/CSE-2022-26-Batch-B-08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0570B3-AF5E-CF83-4228-7A09D84A7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0" y="1371601"/>
            <a:ext cx="9144000" cy="4135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2106C8-CDCE-FE8C-FE7B-2843EB8A0279}"/>
              </a:ext>
            </a:extLst>
          </p:cNvPr>
          <p:cNvSpPr txBox="1"/>
          <p:nvPr/>
        </p:nvSpPr>
        <p:spPr>
          <a:xfrm>
            <a:off x="2836545" y="-76200"/>
            <a:ext cx="813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1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z="1400" spc="-25" dirty="0"/>
              <a:t>B - 08</a:t>
            </a:r>
            <a:endParaRPr sz="1400"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3"/>
            <a:ext cx="765749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9600" spc="-3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600" spc="-1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Queries?</a:t>
            </a:r>
            <a:endParaRPr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ED859-A59B-E306-B399-9C68D84B22BF}"/>
              </a:ext>
            </a:extLst>
          </p:cNvPr>
          <p:cNvSpPr txBox="1"/>
          <p:nvPr/>
        </p:nvSpPr>
        <p:spPr>
          <a:xfrm>
            <a:off x="2819400" y="-64532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 for Weapon Detection and Warning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EF162-5076-AFF7-587A-E74898BF0391}"/>
              </a:ext>
            </a:extLst>
          </p:cNvPr>
          <p:cNvSpPr txBox="1"/>
          <p:nvPr/>
        </p:nvSpPr>
        <p:spPr>
          <a:xfrm>
            <a:off x="822736" y="6590954"/>
            <a:ext cx="579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719</Words>
  <Application>Microsoft Office PowerPoint</Application>
  <PresentationFormat>Widescreen</PresentationFormat>
  <Paragraphs>131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 </vt:lpstr>
      <vt:lpstr>Contents</vt:lpstr>
      <vt:lpstr>Title Justification </vt:lpstr>
      <vt:lpstr>PowerPoint Presentation</vt:lpstr>
      <vt:lpstr>Problem Statement</vt:lpstr>
      <vt:lpstr>Objectives of Project</vt:lpstr>
      <vt:lpstr>PowerPoint Presentation</vt:lpstr>
      <vt:lpstr>Proposed Work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Reshma</dc:creator>
  <cp:lastModifiedBy>Shafiya Banu</cp:lastModifiedBy>
  <cp:revision>11</cp:revision>
  <dcterms:created xsi:type="dcterms:W3CDTF">2025-12-02T11:29:58Z</dcterms:created>
  <dcterms:modified xsi:type="dcterms:W3CDTF">2025-12-12T05:16:43Z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